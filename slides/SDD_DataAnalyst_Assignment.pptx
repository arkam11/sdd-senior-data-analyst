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30" d="100"/>
          <a:sy n="130" d="100"/>
        </p:scale>
        <p:origin x="8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Requests per Department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CAC-4048-938B-4A1BAE2A75A0}"/>
              </c:ext>
            </c:extLst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CAC-4048-938B-4A1BAE2A75A0}"/>
              </c:ext>
            </c:extLst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CAC-4048-938B-4A1BAE2A75A0}"/>
              </c:ext>
            </c:extLst>
          </c:dPt>
          <c:dPt>
            <c:idx val="3"/>
            <c:invertIfNegative val="0"/>
            <c:bubble3D val="0"/>
            <c:spPr>
              <a:solidFill>
                <a:srgbClr val="C7463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CAC-4048-938B-4A1BAE2A75A0}"/>
              </c:ext>
            </c:extLst>
          </c:dPt>
          <c:dPt>
            <c:idx val="4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CAC-4048-938B-4A1BAE2A75A0}"/>
              </c:ext>
            </c:extLst>
          </c:dPt>
          <c:dPt>
            <c:idx val="5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CAC-4048-938B-4A1BAE2A75A0}"/>
              </c:ext>
            </c:extLst>
          </c:dPt>
          <c:dPt>
            <c:idx val="6"/>
            <c:invertIfNegative val="0"/>
            <c:bubble3D val="0"/>
            <c:spPr>
              <a:solidFill>
                <a:srgbClr val="E25A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CAC-4048-938B-4A1BAE2A75A0}"/>
              </c:ext>
            </c:extLst>
          </c:dPt>
          <c:dPt>
            <c:idx val="7"/>
            <c:invertIfNegative val="0"/>
            <c:bubble3D val="0"/>
            <c:spPr>
              <a:solidFill>
                <a:srgbClr val="4E79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CAC-4048-938B-4A1BAE2A75A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Health</c:v>
                </c:pt>
                <c:pt idx="1">
                  <c:v>Transport</c:v>
                </c:pt>
                <c:pt idx="2">
                  <c:v>Finance</c:v>
                </c:pt>
                <c:pt idx="3">
                  <c:v>Interior</c:v>
                </c:pt>
                <c:pt idx="4">
                  <c:v>Education</c:v>
                </c:pt>
                <c:pt idx="5">
                  <c:v>Housing</c:v>
                </c:pt>
                <c:pt idx="6">
                  <c:v>Environment</c:v>
                </c:pt>
                <c:pt idx="7">
                  <c:v>Labour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241</c:v>
                </c:pt>
                <c:pt idx="1">
                  <c:v>216</c:v>
                </c:pt>
                <c:pt idx="2">
                  <c:v>182</c:v>
                </c:pt>
                <c:pt idx="3">
                  <c:v>170</c:v>
                </c:pt>
                <c:pt idx="4">
                  <c:v>158</c:v>
                </c:pt>
                <c:pt idx="5">
                  <c:v>147</c:v>
                </c:pt>
                <c:pt idx="6">
                  <c:v>67</c:v>
                </c:pt>
                <c:pt idx="7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CCAC-4048-938B-4A1BAE2A75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SLA Compliance Trend 2024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SLA Compliance %</c:v>
                </c:pt>
              </c:strCache>
            </c:strRef>
          </c:tx>
          <c:spPr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82.9</c:v>
                </c:pt>
                <c:pt idx="1">
                  <c:v>76.2</c:v>
                </c:pt>
                <c:pt idx="2">
                  <c:v>87.5</c:v>
                </c:pt>
                <c:pt idx="3">
                  <c:v>68.099999999999994</c:v>
                </c:pt>
                <c:pt idx="4">
                  <c:v>77.400000000000006</c:v>
                </c:pt>
                <c:pt idx="5">
                  <c:v>80</c:v>
                </c:pt>
                <c:pt idx="6">
                  <c:v>74.3</c:v>
                </c:pt>
                <c:pt idx="7">
                  <c:v>79.099999999999994</c:v>
                </c:pt>
                <c:pt idx="8">
                  <c:v>83.2</c:v>
                </c:pt>
                <c:pt idx="9">
                  <c:v>71.599999999999994</c:v>
                </c:pt>
                <c:pt idx="10">
                  <c:v>78.900000000000006</c:v>
                </c:pt>
                <c:pt idx="11">
                  <c:v>81.400000000000006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589-42C9-824D-62E4058034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(80%)</c:v>
                </c:pt>
              </c:strCache>
            </c:strRef>
          </c:tx>
          <c:spPr>
            <a:ln w="25400" cap="flat">
              <a:solidFill>
                <a:srgbClr val="DC262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80</c:v>
                </c:pt>
                <c:pt idx="1">
                  <c:v>80</c:v>
                </c:pt>
                <c:pt idx="2">
                  <c:v>80</c:v>
                </c:pt>
                <c:pt idx="3">
                  <c:v>80</c:v>
                </c:pt>
                <c:pt idx="4">
                  <c:v>80</c:v>
                </c:pt>
                <c:pt idx="5">
                  <c:v>80</c:v>
                </c:pt>
                <c:pt idx="6">
                  <c:v>80</c:v>
                </c:pt>
                <c:pt idx="7">
                  <c:v>80</c:v>
                </c:pt>
                <c:pt idx="8">
                  <c:v>80</c:v>
                </c:pt>
                <c:pt idx="9">
                  <c:v>80</c:v>
                </c:pt>
                <c:pt idx="10">
                  <c:v>80</c:v>
                </c:pt>
                <c:pt idx="11">
                  <c:v>80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589-42C9-824D-62E4058034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555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17314F"/>
          </a:solidFill>
          <a:ln w="12700">
            <a:solidFill>
              <a:srgbClr val="1731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028090"/>
                </a:solidFill>
              </a:rPr>
              <a:t>SDD GOVERNMENT SERVICES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Analytics Solution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1762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</a:rPr>
              <a:t>Senior Data Analyst — Technical Assignment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2670048"/>
            <a:ext cx="45720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92608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9260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Oracle DB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75688" y="292608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728E9B"/>
          </a:solidFill>
          <a:ln w="12700">
            <a:solidFill>
              <a:srgbClr val="728E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75688" y="29260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Apache NiFi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57016" y="292608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7016" y="29260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Kafka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38344" y="292608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38344" y="29260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PySpark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19672" y="292608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29260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Tableau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01000" y="292608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01000" y="29260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Python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Prepared by: Arkam Thameemudeen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0690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</a:rPr>
              <a:t>github.com/Arkam11/sdd-senior-data-analyst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6451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</a:rPr>
              <a:t>June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280160"/>
            <a:ext cx="1417320" cy="146304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371600"/>
            <a:ext cx="14173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Oracle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OLTP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24505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FFFFFF"/>
                </a:solidFill>
              </a:rPr>
              <a:t>SOURCE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645920" y="201168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828800" y="1280160"/>
            <a:ext cx="1417320" cy="1463040"/>
          </a:xfrm>
          <a:prstGeom prst="rect">
            <a:avLst/>
          </a:prstGeom>
          <a:solidFill>
            <a:srgbClr val="728E9B"/>
          </a:solidFill>
          <a:ln w="12700">
            <a:solidFill>
              <a:srgbClr val="728E9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28800" y="1371600"/>
            <a:ext cx="14173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Apache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NiFi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24505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FFFFFF"/>
                </a:solidFill>
              </a:rPr>
              <a:t>INGESTION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246120" y="201168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3429000" y="1280160"/>
            <a:ext cx="1417320" cy="146304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29000" y="1371600"/>
            <a:ext cx="14173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Apache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Kafka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4505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FFFFFF"/>
                </a:solidFill>
              </a:rPr>
              <a:t>STREAMING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846320" y="201168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029200" y="1280160"/>
            <a:ext cx="1417320" cy="1463040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0" y="1371600"/>
            <a:ext cx="14173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PySpark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4505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FFFFFF"/>
                </a:solidFill>
              </a:rPr>
              <a:t>TRANSFORM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446520" y="201168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6629400" y="1280160"/>
            <a:ext cx="1417320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29400" y="1371600"/>
            <a:ext cx="14173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Oracle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DWH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29400" y="24505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FFFFFF"/>
                </a:solidFill>
              </a:rPr>
              <a:t>STORAGE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8046720" y="201168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8229600" y="1280160"/>
            <a:ext cx="1417320" cy="146304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0" y="1371600"/>
            <a:ext cx="14173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Tableau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0" y="24505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FFFFFF"/>
                </a:solidFill>
              </a:rPr>
              <a:t>VISUALISE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74320" y="3017520"/>
            <a:ext cx="73152" cy="25603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30175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74634"/>
                </a:solidFill>
              </a:rPr>
              <a:t>Source Layer: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011680" y="30175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Oracle 23c Free — SERVICE_REQUESTS, USER_SURVEYS, DEPARTMENTS, SLA_DEFINITIONS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3346704"/>
            <a:ext cx="73152" cy="256032"/>
          </a:xfrm>
          <a:prstGeom prst="rect">
            <a:avLst/>
          </a:prstGeom>
          <a:solidFill>
            <a:srgbClr val="728E9B"/>
          </a:solidFill>
          <a:ln w="12700">
            <a:solidFill>
              <a:srgbClr val="728E9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3467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28E9B"/>
                </a:solidFill>
              </a:rPr>
              <a:t>Ingestion Layer: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011680" y="33467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Apache NiFi 1.23 — QueryDatabaseTable → EvaluateJsonPath → UpdateAttribute → PutDatabaseRecord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3675888"/>
            <a:ext cx="73152" cy="256032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" y="36758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3D3D"/>
                </a:solidFill>
              </a:rPr>
              <a:t>Streaming Layer: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011680" y="36758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Apache Kafka — Real-time service request events via sdd-service-requests topic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" y="4005072"/>
            <a:ext cx="73152" cy="256032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" y="4005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25A1C"/>
                </a:solidFill>
              </a:rPr>
              <a:t>Transform Layer: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011680" y="400507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PySpark DataFrame API — KPI calculations: resolution time, SLA compliance, satisfaction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4334256"/>
            <a:ext cx="73152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0624" y="43342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Storage Layer: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011680" y="433425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Oracle DWH — Star schema: FACT_SERVICE_REQUESTS + 4 dimension tables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4663440"/>
            <a:ext cx="73152" cy="256032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0624" y="46634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E79A7"/>
                </a:solidFill>
              </a:rPr>
              <a:t>Presentation Layer: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011680" y="46634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Tableau Desktop — Executive dashboard: bar, line, scatter charts + KPI tiles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DATA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OLTP Schema — Transactional Tables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920240" cy="34747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80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DEPARTMENTS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1920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27632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74634"/>
                </a:solidFill>
              </a:rPr>
              <a:t>department_id PK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65760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department_code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65760" y="2176272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department_name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65760" y="2450592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department_sector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240280" y="1280160"/>
            <a:ext cx="1920240" cy="34747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1280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SERVICE_TYPES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40280" y="1627632"/>
            <a:ext cx="1920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1627632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74634"/>
                </a:solidFill>
              </a:rPr>
              <a:t>service_type_id PK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331720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service_code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331720" y="2176272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service_name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331720" y="2450592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563EB"/>
                </a:solidFill>
              </a:rPr>
              <a:t>department_id FK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331720" y="2724912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category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206240" y="1280160"/>
            <a:ext cx="192024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1280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SLA_DEFINITIONS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206240" y="1627632"/>
            <a:ext cx="1920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1627632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74634"/>
                </a:solidFill>
              </a:rPr>
              <a:t>sla_id PK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297680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563EB"/>
                </a:solidFill>
              </a:rPr>
              <a:t>service_type_id FK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297680" y="2176272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priority_level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297680" y="2450592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sla_hours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172200" y="914400"/>
            <a:ext cx="19202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9144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SERVICE_REQUESTS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72200" y="1261872"/>
            <a:ext cx="192024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1261872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74634"/>
                </a:solidFill>
              </a:rPr>
              <a:t>request_id PK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263640" y="1536192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request_ref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263640" y="1810512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563EB"/>
                </a:solidFill>
              </a:rPr>
              <a:t>department_id FK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263640" y="2084832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563EB"/>
                </a:solidFill>
              </a:rPr>
              <a:t>service_type_id FK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263640" y="2359152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563EB"/>
                </a:solidFill>
              </a:rPr>
              <a:t>sla_id FK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63640" y="2633472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submitted_at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263640" y="2907792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completed_at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263640" y="3182112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resolution_minutes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263640" y="3456432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sla_compliant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172200" y="3474720"/>
            <a:ext cx="192024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3474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USER_SURVEYS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72200" y="3822192"/>
            <a:ext cx="1920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3822192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74634"/>
                </a:solidFill>
              </a:rPr>
              <a:t>survey_id PK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263640" y="4096512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563EB"/>
                </a:solidFill>
              </a:rPr>
              <a:t>request_id FK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263640" y="4370832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satisfaction_score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263640" y="4645152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ease_of_use_score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263640" y="4919472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response_speed_score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74320" y="4709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8 Departments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240280" y="4709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16 Service Types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206240" y="4709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16 SLA Rules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172200" y="4709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1,200 Requests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728E9B"/>
          </a:solidFill>
          <a:ln w="12700">
            <a:solidFill>
              <a:srgbClr val="728E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ETL FLOW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NiFi — ETL Pipeline Design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548640" cy="54864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1600200" cy="4114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828800"/>
            <a:ext cx="16002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QueryDatabaseTable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1600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" y="2304288"/>
            <a:ext cx="1463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Incremental extract from Oracle OLTP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SCHEDULE: every 15 minutes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Tracks SUBMITTED_AT watermark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74520" y="2029968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2423160" y="1188720"/>
            <a:ext cx="548640" cy="548640"/>
          </a:xfrm>
          <a:prstGeom prst="ellipse">
            <a:avLst/>
          </a:prstGeom>
          <a:solidFill>
            <a:srgbClr val="728E9B"/>
          </a:solidFill>
          <a:ln w="12700">
            <a:solidFill>
              <a:srgbClr val="728E9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0" y="1828800"/>
            <a:ext cx="1600200" cy="411480"/>
          </a:xfrm>
          <a:prstGeom prst="rect">
            <a:avLst/>
          </a:prstGeom>
          <a:solidFill>
            <a:srgbClr val="728E9B"/>
          </a:solidFill>
          <a:ln w="12700">
            <a:solidFill>
              <a:srgbClr val="728E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1828800"/>
            <a:ext cx="16002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EvaluateJsonPath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011680" y="2240280"/>
            <a:ext cx="1600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84832" y="2304288"/>
            <a:ext cx="1463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Parse JSON FlowFile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Extract: request_id, timestamps,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resolution_minutes, sla_hours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611880" y="2029968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4160520" y="118872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49040" y="1828800"/>
            <a:ext cx="16002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1828800"/>
            <a:ext cx="16002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UpdateAttribute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749040" y="2240280"/>
            <a:ext cx="1600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22192" y="2304288"/>
            <a:ext cx="1463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Calculate derived fields: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• sla_compliant_flag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• sla_breach_minutes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• time_key (YYYYMMDD)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349240" y="2029968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5897880" y="1188720"/>
            <a:ext cx="548640" cy="548640"/>
          </a:xfrm>
          <a:prstGeom prst="ellipse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0" y="1828800"/>
            <a:ext cx="1600200" cy="411480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1828800"/>
            <a:ext cx="16002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ConvertRecord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0" y="2240280"/>
            <a:ext cx="1600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559552" y="2304288"/>
            <a:ext cx="1463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Transform to DWH schema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Lookup dimension surrogate keys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JsonTreeReader → JsonRecordSetWriter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086600" y="2029968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7635240" y="118872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352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223760" y="1828800"/>
            <a:ext cx="160020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0" y="1828800"/>
            <a:ext cx="16002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PutDatabaseRecord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223760" y="2240280"/>
            <a:ext cx="1600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296912" y="2304288"/>
            <a:ext cx="1463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Load to Oracle DWH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Table: FACT_SERVICE_REQUESTS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Batch size: 100 records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7432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Error Handling</a:t>
            </a:r>
            <a:endParaRPr lang="en-US" sz="11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069080"/>
          <a:ext cx="5029200" cy="8534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Connection failure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Auto-retry 3x with 30s backoff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Duplicate records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MERGE statement prevents duplicates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Schema mismatch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Route to failure queue + alert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1" name="Text 38"/>
          <p:cNvSpPr/>
          <p:nvPr/>
        </p:nvSpPr>
        <p:spPr>
          <a:xfrm>
            <a:off x="5577840" y="3794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Performance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5577840" y="4133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28E9B"/>
                </a:solidFill>
              </a:rPr>
              <a:t>Incremental load: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7406640" y="41330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~50ms per 100 records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5577840" y="43891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28E9B"/>
                </a:solidFill>
              </a:rPr>
              <a:t>Full load (1,200):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7406640" y="43891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~2 seconds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5577840" y="46451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28E9B"/>
                </a:solidFill>
              </a:rPr>
              <a:t>Schedule: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7406640" y="46451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Every 15 minutes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5577840" y="49011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28E9B"/>
                </a:solidFill>
              </a:rPr>
              <a:t>Connection pool: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7406640" y="49011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10 max connections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DATA WAREHOUSE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DWH — Star Schema Design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0" y="1645920"/>
            <a:ext cx="21945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0" y="1645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FACT_SERVICE_REQUESTS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474720" y="2011680"/>
            <a:ext cx="219456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2029968"/>
            <a:ext cx="20116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C74634"/>
                </a:solidFill>
              </a:rPr>
              <a:t>fact_id PK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566160" y="2258568"/>
            <a:ext cx="20116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1A2E"/>
                </a:solidFill>
              </a:rPr>
              <a:t>request_id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566160" y="2487168"/>
            <a:ext cx="20116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563EB"/>
                </a:solidFill>
              </a:rPr>
              <a:t>dept_key FK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566160" y="2715768"/>
            <a:ext cx="20116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563EB"/>
                </a:solidFill>
              </a:rPr>
              <a:t>service_key FK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566160" y="2944368"/>
            <a:ext cx="20116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563EB"/>
                </a:solidFill>
              </a:rPr>
              <a:t>time_key FK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566160" y="3172968"/>
            <a:ext cx="20116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563EB"/>
                </a:solidFill>
              </a:rPr>
              <a:t>sla_key FK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566160" y="3401568"/>
            <a:ext cx="20116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1A2E"/>
                </a:solidFill>
              </a:rPr>
              <a:t>resolution_minutes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566160" y="3630168"/>
            <a:ext cx="20116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1A2E"/>
                </a:solidFill>
              </a:rPr>
              <a:t>sla_compliant_flag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566160" y="3858768"/>
            <a:ext cx="20116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1A2E"/>
                </a:solidFill>
              </a:rPr>
              <a:t>satisfaction_score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566160" y="4087368"/>
            <a:ext cx="20116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1A2E"/>
                </a:solidFill>
              </a:rPr>
              <a:t>has_survey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566160" y="4315968"/>
            <a:ext cx="20116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1A2E"/>
                </a:solidFill>
              </a:rPr>
              <a:t>submitted_at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82880" y="1188720"/>
            <a:ext cx="2011680" cy="34747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11887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DIM_DEPARTMENT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" y="1536192"/>
            <a:ext cx="201168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74634"/>
                </a:solidFill>
              </a:rPr>
              <a:t>dept_key PK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74320" y="1792224"/>
            <a:ext cx="1828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department_id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74320" y="2048256"/>
            <a:ext cx="1828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department_name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74320" y="2304288"/>
            <a:ext cx="1828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department_sector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194560" y="1737360"/>
            <a:ext cx="1280160" cy="0"/>
          </a:xfrm>
          <a:prstGeom prst="line">
            <a:avLst/>
          </a:prstGeom>
          <a:noFill/>
          <a:ln w="10160">
            <a:solidFill>
              <a:srgbClr val="AAAAAA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82880" y="3200400"/>
            <a:ext cx="20116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DIM_SERVICE_TYPE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" y="3547872"/>
            <a:ext cx="201168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547872"/>
            <a:ext cx="1828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74634"/>
                </a:solidFill>
              </a:rPr>
              <a:t>service_key PK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74320" y="3803904"/>
            <a:ext cx="1828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service_type_id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74320" y="4059936"/>
            <a:ext cx="1828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service_name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74320" y="4315968"/>
            <a:ext cx="1828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category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194560" y="3749040"/>
            <a:ext cx="1280160" cy="0"/>
          </a:xfrm>
          <a:prstGeom prst="line">
            <a:avLst/>
          </a:prstGeom>
          <a:noFill/>
          <a:ln w="10160">
            <a:solidFill>
              <a:srgbClr val="AAAAAA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858000" y="1188720"/>
            <a:ext cx="201168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11887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DIM_TIME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858000" y="1536192"/>
            <a:ext cx="2011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74634"/>
                </a:solidFill>
              </a:rPr>
              <a:t>time_key PK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949440" y="1792224"/>
            <a:ext cx="1828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full_date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949440" y="2048256"/>
            <a:ext cx="1828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month_name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949440" y="2304288"/>
            <a:ext cx="1828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quarter_name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949440" y="2560320"/>
            <a:ext cx="1828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year_num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858000" y="1737360"/>
            <a:ext cx="1188720" cy="0"/>
          </a:xfrm>
          <a:prstGeom prst="line">
            <a:avLst/>
          </a:prstGeom>
          <a:noFill/>
          <a:ln w="10160">
            <a:solidFill>
              <a:srgbClr val="AAAAAA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6858000" y="3200400"/>
            <a:ext cx="20116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DIM_SLA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858000" y="3547872"/>
            <a:ext cx="2011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0" y="3547872"/>
            <a:ext cx="1828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74634"/>
                </a:solidFill>
              </a:rPr>
              <a:t>sla_key PK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949440" y="3803904"/>
            <a:ext cx="1828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sla_id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949440" y="4059936"/>
            <a:ext cx="1828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priority_level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949440" y="4315968"/>
            <a:ext cx="1828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sla_hours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949440" y="4572000"/>
            <a:ext cx="1828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sla_category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858000" y="3749040"/>
            <a:ext cx="1188720" cy="0"/>
          </a:xfrm>
          <a:prstGeom prst="line">
            <a:avLst/>
          </a:prstGeom>
          <a:noFill/>
          <a:ln w="10160">
            <a:solidFill>
              <a:srgbClr val="AAAAAA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KPIS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920240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80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61.35 hrs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8105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Avg Resolution Time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31720" y="1188720"/>
            <a:ext cx="1920240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31720" y="1280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76%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31720" y="18105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SLA Compliance Rate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0" y="1188720"/>
            <a:ext cx="1920240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0" y="1280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3.77 / 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389120" y="18105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Avg Satisfaction Score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46520" y="1188720"/>
            <a:ext cx="1920240" cy="105156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1280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1,200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46520" y="18105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Total Requests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423160"/>
            <a:ext cx="73152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</a:rPr>
              <a:t>KPI 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0624" y="2679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Average Resolution Time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34640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Formula: AVG(resolution_minutes) / 60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834640" y="2697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</a:rPr>
              <a:t>Ministry of Labour is fastest at 20.51 hrs. Ministry of Housing slowest at 78+ hrs for permit applications.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92240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Target: &lt; SLA hours per service type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291840"/>
            <a:ext cx="73152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3291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</a:rPr>
              <a:t>KPI 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20624" y="3547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SLA Compliance 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834640" y="3291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Formula: SUM(sla_compliant_flag) / COUNT(*) × 100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834640" y="3566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</a:rPr>
              <a:t>Overall 76% compliance. Academic certificates and business grants hit 100% in Jan 2024. Traffic fine disputes lowest at 50%.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92240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</a:rPr>
              <a:t>Target: &gt; 80% monthly target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4160520"/>
            <a:ext cx="73152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4160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</a:rPr>
              <a:t>KPI 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20624" y="4416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Satisfaction Score vs SLA Compliance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834640" y="4160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Formula: AVG(satisfaction_score) WHERE has_survey = 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834640" y="4434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</a:rPr>
              <a:t>Strong positive correlation — departments with &gt;80% SLA compliance average 3.9+ satisfaction. Low SLA = 2.5 avg score.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492240" y="4297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</a:rPr>
              <a:t>Target: &gt; 4.0 / 5.0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DASHBOARD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 — Chart Insights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188720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572000" y="1188720"/>
          <a:ext cx="42976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274320" y="3657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Key Insights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274320" y="4023360"/>
            <a:ext cx="73152" cy="34747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20624" y="40233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</a:rPr>
              <a:t>Ministry of Health handles the highest volume (241 requests) — staffing and process optimisation needed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709160" y="4023360"/>
            <a:ext cx="73152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55464" y="40233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</a:rPr>
              <a:t>SLA compliance dipped to 68% in April 2024 — spikes in Housing permit applications caused the breach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274320" y="4480560"/>
            <a:ext cx="73152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20624" y="4480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</a:rPr>
              <a:t>Departments with SLA &gt; 80% consistently score 3.9+ on satisfaction — SLA compliance is the key driver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4709160" y="4480560"/>
            <a:ext cx="7315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55464" y="4480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</a:rPr>
              <a:t>Ministry of Labour resolves requests fastest (20.5 hrs avg) — their process is a best-practice benchmark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TECH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Implementation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73152" cy="8686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2893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74634"/>
                </a:solidFill>
              </a:rPr>
              <a:t>Oracle DB 23c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0624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OLTP + DWH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377440" y="130759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Source tables + Star schema DWH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FREEPDB1 service, sdd_user schema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234440"/>
            <a:ext cx="73152" cy="868680"/>
          </a:xfrm>
          <a:prstGeom prst="rect">
            <a:avLst/>
          </a:prstGeom>
          <a:solidFill>
            <a:srgbClr val="728E9B"/>
          </a:solidFill>
          <a:ln w="12700">
            <a:solidFill>
              <a:srgbClr val="728E9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5464" y="12893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28E9B"/>
                </a:solidFill>
              </a:rPr>
              <a:t>Apache NiFi 1.23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55464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ETL Ingestion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12280" y="130759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5-processor pipeline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Incremental load every 15 minutes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4320" y="219456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194560"/>
            <a:ext cx="73152" cy="86868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2249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3D3D"/>
                </a:solidFill>
              </a:rPr>
              <a:t>Apache Kafka 7.5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0624" y="2514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Streaming Layer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377440" y="226771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sdd-service-requests topic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20 real-time events demonstrated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709160" y="219456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194560"/>
            <a:ext cx="73152" cy="868680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5464" y="2249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5A1C"/>
                </a:solidFill>
              </a:rPr>
              <a:t>PySpark / pandas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55464" y="2514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Transformation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12280" y="226771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Spark-style DataFrame API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4 KPI transformations, CSV output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315468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154680"/>
            <a:ext cx="73152" cy="86868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" y="32095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76AB"/>
                </a:solidFill>
              </a:rPr>
              <a:t>Python 3.11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0624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Analytics Scripts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377440" y="322783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data generation, ETL loader,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KPI analysis, 5 chart exports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709160" y="315468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154680"/>
            <a:ext cx="73152" cy="86868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55464" y="32095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79A7"/>
                </a:solidFill>
              </a:rPr>
              <a:t>Tableau Desktop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55464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Visualisation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12280" y="322783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Executive dashboard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Bar, line, scatter + KPI tiles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74320" y="411480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4114800"/>
            <a:ext cx="73152" cy="868680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" y="4169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496ED"/>
                </a:solidFill>
              </a:rPr>
              <a:t>Docker Compose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0624" y="4434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Infrastructure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377440" y="418795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Full stack orchestration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Oracle + NiFi + Kafka + Zookeeper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09160" y="411480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4114800"/>
            <a:ext cx="73152" cy="868680"/>
          </a:xfrm>
          <a:prstGeom prst="rect">
            <a:avLst/>
          </a:prstGeom>
          <a:solidFill>
            <a:srgbClr val="24292E"/>
          </a:solidFill>
          <a:ln w="12700">
            <a:solidFill>
              <a:srgbClr val="2429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55464" y="4169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4292E"/>
                </a:solidFill>
              </a:rPr>
              <a:t>GitHub Actions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55464" y="4434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CI/CD Pipeline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812280" y="418795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Auto lint + test on push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flake8 + pytest workflow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24292E"/>
          </a:solidFill>
          <a:ln w="12700">
            <a:solidFill>
              <a:srgbClr val="2429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DEVOPS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&amp; CI/CD Pipeline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Repository Structure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sdd-senior-data-analyst/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docker-compose.yml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186537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.github/workflows/ci.yml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data/generate_data.py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02920" y="226771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28E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etl/nifi_flow_description.md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02920" y="246888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46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warehouse/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31520" y="2670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46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schema_oltp.sql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31520" y="287121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46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schema_dwh.sql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31520" y="307238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46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kpi_queries.sql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02920" y="327355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analytics/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31520" y="34747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dwh_loader.py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31520" y="367588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kpi_analysis.py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31520" y="387705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5A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spark_transform.py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31520" y="407822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kafka_producer.py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31520" y="42793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kafka_consumer.py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02920" y="448056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E7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dashboard/  (5 charts + 4 Spark CSVs)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" y="46817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diagrams/architecture_diagram.pdf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846320" y="1143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CI/CD Workflow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1508760"/>
            <a:ext cx="1234440" cy="594360"/>
          </a:xfrm>
          <a:prstGeom prst="rect">
            <a:avLst/>
          </a:prstGeom>
          <a:solidFill>
            <a:srgbClr val="24292E"/>
          </a:solidFill>
          <a:ln w="12700">
            <a:solidFill>
              <a:srgbClr val="2429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150876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git push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main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80760" y="1801368"/>
            <a:ext cx="15544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6236208" y="1508760"/>
            <a:ext cx="1234440" cy="594360"/>
          </a:xfrm>
          <a:prstGeom prst="rect">
            <a:avLst/>
          </a:prstGeom>
          <a:solidFill>
            <a:srgbClr val="2088FF"/>
          </a:solidFill>
          <a:ln w="12700">
            <a:solidFill>
              <a:srgbClr val="208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36208" y="150876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GitHub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Actions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70648" y="1801368"/>
            <a:ext cx="15544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7626096" y="1508760"/>
            <a:ext cx="1234440" cy="59436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26096" y="150876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Setup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Python 3.12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2514600"/>
            <a:ext cx="123444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46320" y="251460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Install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Deps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80760" y="2807208"/>
            <a:ext cx="15544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6236208" y="2514600"/>
            <a:ext cx="123444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36208" y="251460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flake8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Lint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470648" y="2807208"/>
            <a:ext cx="15544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7626096" y="2514600"/>
            <a:ext cx="123444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626096" y="251460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pytest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Tests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46320" y="3200400"/>
            <a:ext cx="402336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200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Pipeline passing — All checks green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46320" y="3794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</a:rPr>
              <a:t>github.com/Arkam11/sdd-senior-data-analyst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Was Delivered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73152" cy="65836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9966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Oracle OLTP Schema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12064" y="12893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5 tables, 1,200 synthetic requests, 846 surveys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420624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28E9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960120"/>
            <a:ext cx="73152" cy="658368"/>
          </a:xfrm>
          <a:prstGeom prst="rect">
            <a:avLst/>
          </a:prstGeom>
          <a:solidFill>
            <a:srgbClr val="728E9B"/>
          </a:solidFill>
          <a:ln w="12700">
            <a:solidFill>
              <a:srgbClr val="728E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92624" y="9966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Apache NiFi ETL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992624" y="12893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5-processor pipeline, incremental load, error handling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737360"/>
            <a:ext cx="420624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737360"/>
            <a:ext cx="73152" cy="65836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1773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Kafka Streaming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12064" y="20665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Producer/consumer demonstrated with 20 live events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46320" y="1737360"/>
            <a:ext cx="420624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737360"/>
            <a:ext cx="73152" cy="658368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1773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PySpark Transforms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92624" y="20665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4 KPI outputs — resolution, SLA, satisfaction, trend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2514600"/>
            <a:ext cx="420624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514600"/>
            <a:ext cx="73152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25511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Oracle DWH Star Schema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2064" y="28437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FACT + 4 DIMS, 1,200 fact rows loaded and verified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46320" y="2514600"/>
            <a:ext cx="420624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514600"/>
            <a:ext cx="73152" cy="658368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92624" y="25511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Python KPI Analytics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92624" y="28437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5 publication-ready charts generated from live DWH data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5760" y="3291840"/>
            <a:ext cx="420624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291840"/>
            <a:ext cx="73152" cy="658368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" y="33284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Tableau Dashboard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12064" y="36210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Executive dashboard — bar, line, scatter, KPI tiles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846320" y="3291840"/>
            <a:ext cx="420624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3291840"/>
            <a:ext cx="73152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92624" y="33284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GitHub CI/CD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92624" y="36210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Docker Compose stack + Actions pipeline — all green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4160520"/>
            <a:ext cx="8412480" cy="640080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1605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Thank you  •  github.com/Arkam11/sdd-senior-data-analyst  •  Arkam Thameemudeen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937</Words>
  <Application>Microsoft Office PowerPoint</Application>
  <PresentationFormat>On-screen Show (16:9)</PresentationFormat>
  <Paragraphs>293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SDD Senior Data Analyst — Technical Assignment</dc:title>
  <dc:subject>PptxGenJS Presentation</dc:subject>
  <dc:creator>Arkam Thameemudeen</dc:creator>
  <cp:lastModifiedBy>Mohammed Arkam</cp:lastModifiedBy>
  <cp:revision>1</cp:revision>
  <dcterms:created xsi:type="dcterms:W3CDTF">2026-06-03T11:27:49Z</dcterms:created>
  <dcterms:modified xsi:type="dcterms:W3CDTF">2026-06-03T11:36:13Z</dcterms:modified>
</cp:coreProperties>
</file>